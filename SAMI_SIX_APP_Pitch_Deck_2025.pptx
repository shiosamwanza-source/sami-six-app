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Mapato (USD M)</c:v>
                </c:pt>
              </c:strCache>
            </c:strRef>
          </c:tx>
          <c:spPr>
            <a:solidFill>
              <a:srgbClr val="0A7E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Mwaka 1</c:v>
                  </c:pt>
                  <c:pt idx="1">
                    <c:v>Mwaka 2</c:v>
                  </c:pt>
                  <c:pt idx="2">
                    <c:v>Mwaka 3</c:v>
                  </c:pt>
                  <c:pt idx="3">
                    <c:v>Mwaka 4</c:v>
                  </c:pt>
                  <c:pt idx="4">
                    <c:v>Mwaka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8.8</c:v>
                </c:pt>
                <c:pt idx="1">
                  <c:v>22</c:v>
                </c:pt>
                <c:pt idx="2">
                  <c:v>45</c:v>
                </c:pt>
                <c:pt idx="3">
                  <c:v>85</c:v>
                </c:pt>
                <c:pt idx="4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Faida (USD M)</c:v>
                </c:pt>
              </c:strCache>
            </c:strRef>
          </c:tx>
          <c:spPr>
            <a:solidFill>
              <a:srgbClr val="C8940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Mwaka 1</c:v>
                  </c:pt>
                  <c:pt idx="1">
                    <c:v>Mwaka 2</c:v>
                  </c:pt>
                  <c:pt idx="2">
                    <c:v>Mwaka 3</c:v>
                  </c:pt>
                  <c:pt idx="3">
                    <c:v>Mwaka 4</c:v>
                  </c:pt>
                  <c:pt idx="4">
                    <c:v>Mwaka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8</c:v>
                </c:pt>
                <c:pt idx="2">
                  <c:v>18</c:v>
                </c:pt>
                <c:pt idx="3">
                  <c:v>35</c:v>
                </c:pt>
                <c:pt idx="4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51530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0515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3200400" cy="6217920"/>
          </a:xfrm>
          <a:prstGeom prst="rect">
            <a:avLst/>
          </a:prstGeom>
          <a:solidFill>
            <a:srgbClr val="002A66"/>
          </a:solidFill>
          <a:ln w="10160">
            <a:solidFill>
              <a:srgbClr val="C8940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C8940A">
              <a:alpha val="12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SAMI SIX APP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4754880" cy="54864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011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Trade Operating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4505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African SMEs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3108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3337560"/>
            <a:ext cx="2560320" cy="502920"/>
          </a:xfrm>
          <a:prstGeom prst="rect">
            <a:avLst/>
          </a:prstGeom>
          <a:solidFill>
            <a:srgbClr val="051530"/>
          </a:solidFill>
          <a:ln w="6350">
            <a:solidFill>
              <a:srgbClr val="C8940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3832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CARGO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935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· Dubai · Uturuki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08960" y="3337560"/>
            <a:ext cx="2560320" cy="502920"/>
          </a:xfrm>
          <a:prstGeom prst="rect">
            <a:avLst/>
          </a:prstGeom>
          <a:solidFill>
            <a:srgbClr val="051530"/>
          </a:solidFill>
          <a:ln w="6350">
            <a:solidFill>
              <a:srgbClr val="0A7EA4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33832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AGENCY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35935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· Transport · Logistics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Proposal  |  Dar es Salaam, Tanzania  |  2025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SIX APP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47472"/>
            <a:ext cx="8595360" cy="0"/>
          </a:xfrm>
          <a:prstGeom prst="line">
            <a:avLst/>
          </a:prstGeom>
          <a:noFill/>
          <a:ln w="6350">
            <a:solidFill>
              <a:srgbClr val="C8940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SMEs wa Tanzania Wanalazimika Kusafiri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Kununua bidhaa nje ya nchi inahitaji safari ghali — mitaji mingi inapotea njiani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069080" cy="1234440"/>
          </a:xfrm>
          <a:prstGeom prst="rect">
            <a:avLst/>
          </a:prstGeom>
          <a:solidFill>
            <a:srgbClr val="051530"/>
          </a:solidFill>
          <a:ln w="6350">
            <a:solidFill>
              <a:srgbClr val="C8940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91640"/>
            <a:ext cx="45720" cy="1234440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013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Gharama za Safari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1305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$1,000–$3,500 kwa kila safari kwenda China/Dubai/Uturuki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691640"/>
            <a:ext cx="4069080" cy="1234440"/>
          </a:xfrm>
          <a:prstGeom prst="rect">
            <a:avLst/>
          </a:prstGeom>
          <a:solidFill>
            <a:srgbClr val="051530"/>
          </a:solidFill>
          <a:ln w="6350">
            <a:solidFill>
              <a:srgbClr val="C8940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691640"/>
            <a:ext cx="45720" cy="1234440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8013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Udanganyifu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1305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Wasambazaji wasioaminika, bidhaa feki, na mawakala waongo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4069080" cy="1234440"/>
          </a:xfrm>
          <a:prstGeom prst="rect">
            <a:avLst/>
          </a:prstGeom>
          <a:solidFill>
            <a:srgbClr val="051530"/>
          </a:solidFill>
          <a:ln w="6350">
            <a:solidFill>
              <a:srgbClr val="C8940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108960"/>
            <a:ext cx="45720" cy="1234440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18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Bei Isiyoeleweka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478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Gharama za forodha, VAT, na nauli zinajulikana BAADA ya kununua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3108960"/>
            <a:ext cx="4069080" cy="1234440"/>
          </a:xfrm>
          <a:prstGeom prst="rect">
            <a:avLst/>
          </a:prstGeom>
          <a:solidFill>
            <a:srgbClr val="051530"/>
          </a:solidFill>
          <a:ln w="6350">
            <a:solidFill>
              <a:srgbClr val="C8940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108960"/>
            <a:ext cx="45720" cy="1234440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218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Muda Unaopotea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5478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2–3 nje ya biashara yake kwa kila safari moja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572000"/>
            <a:ext cx="2743200" cy="457200"/>
          </a:xfrm>
          <a:prstGeom prst="rect">
            <a:avLst/>
          </a:prstGeom>
          <a:solidFill>
            <a:srgbClr val="C8940A">
              <a:alpha val="15000"/>
            </a:srgbClr>
          </a:solidFill>
          <a:ln w="5080">
            <a:solidFill>
              <a:srgbClr val="C894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572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</a:t>
            </a:r>
            <a:pPr algn="ctr"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SMEs Tanzania huagiza bidhaa nje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00400" y="4572000"/>
            <a:ext cx="2743200" cy="457200"/>
          </a:xfrm>
          <a:prstGeom prst="rect">
            <a:avLst/>
          </a:prstGeom>
          <a:solidFill>
            <a:srgbClr val="C8940A">
              <a:alpha val="15000"/>
            </a:srgbClr>
          </a:solidFill>
          <a:ln w="5080">
            <a:solidFill>
              <a:srgbClr val="C894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4572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$2,000+ </a:t>
            </a:r>
            <a:pPr algn="ctr"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gharama ya safari moja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26480" y="4572000"/>
            <a:ext cx="2743200" cy="457200"/>
          </a:xfrm>
          <a:prstGeom prst="rect">
            <a:avLst/>
          </a:prstGeom>
          <a:solidFill>
            <a:srgbClr val="C8940A">
              <a:alpha val="15000"/>
            </a:srgbClr>
          </a:solidFill>
          <a:ln w="5080">
            <a:solidFill>
              <a:srgbClr val="C894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4572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</a:t>
            </a:r>
            <a:pPr algn="ctr"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safari hazifanikiwi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SIX APP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47472"/>
            <a:ext cx="8595360" cy="0"/>
          </a:xfrm>
          <a:prstGeom prst="line">
            <a:avLst/>
          </a:prstGeom>
          <a:noFill/>
          <a:ln w="6350">
            <a:solidFill>
              <a:srgbClr val="C8940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Mfumo Mmoja. Bei Moja. Mtandao Mmoja.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SIX APP inaunganisha hatua zote za uagizaji bidhaa kwenye programu moja ya simu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600200"/>
            <a:ext cx="1097280" cy="1143000"/>
          </a:xfrm>
          <a:prstGeom prst="rect">
            <a:avLst/>
          </a:prstGeom>
          <a:solidFill>
            <a:srgbClr val="051530"/>
          </a:solidFill>
          <a:ln w="12700">
            <a:solidFill>
              <a:srgbClr val="0A7EA4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600200"/>
            <a:ext cx="1097280" cy="256032"/>
          </a:xfrm>
          <a:prstGeom prst="rect">
            <a:avLst/>
          </a:prstGeom>
          <a:solidFill>
            <a:srgbClr val="0A7EA4">
              <a:alpha val="85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600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189280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Tafuta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Bidhaa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25880" y="2148840"/>
            <a:ext cx="146304" cy="0"/>
          </a:xfrm>
          <a:prstGeom prst="line">
            <a:avLst/>
          </a:prstGeom>
          <a:noFill/>
          <a:ln w="15240">
            <a:solidFill>
              <a:srgbClr val="C894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72184" y="1600200"/>
            <a:ext cx="1097280" cy="1143000"/>
          </a:xfrm>
          <a:prstGeom prst="rect">
            <a:avLst/>
          </a:prstGeom>
          <a:solidFill>
            <a:srgbClr val="051530"/>
          </a:solidFill>
          <a:ln w="12700">
            <a:solidFill>
              <a:srgbClr val="C8940A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472184" y="1600200"/>
            <a:ext cx="1097280" cy="256032"/>
          </a:xfrm>
          <a:prstGeom prst="rect">
            <a:avLst/>
          </a:prstGeom>
          <a:solidFill>
            <a:srgbClr val="C8940A">
              <a:alpha val="85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1600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17904" y="189280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Hakikisha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Wasambazaji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9464" y="2148840"/>
            <a:ext cx="146304" cy="0"/>
          </a:xfrm>
          <a:prstGeom prst="line">
            <a:avLst/>
          </a:prstGeom>
          <a:noFill/>
          <a:ln w="15240">
            <a:solidFill>
              <a:srgbClr val="C894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15768" y="1600200"/>
            <a:ext cx="1097280" cy="1143000"/>
          </a:xfrm>
          <a:prstGeom prst="rect">
            <a:avLst/>
          </a:prstGeom>
          <a:solidFill>
            <a:srgbClr val="051530"/>
          </a:solidFill>
          <a:ln w="12700">
            <a:solidFill>
              <a:srgbClr val="0A7EA4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15768" y="1600200"/>
            <a:ext cx="1097280" cy="256032"/>
          </a:xfrm>
          <a:prstGeom prst="rect">
            <a:avLst/>
          </a:prstGeom>
          <a:solidFill>
            <a:srgbClr val="0A7EA4">
              <a:alpha val="85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15768" y="1600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61488" y="189280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Kagua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Ubora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13048" y="2148840"/>
            <a:ext cx="146304" cy="0"/>
          </a:xfrm>
          <a:prstGeom prst="line">
            <a:avLst/>
          </a:prstGeom>
          <a:noFill/>
          <a:ln w="15240">
            <a:solidFill>
              <a:srgbClr val="C894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59352" y="1600200"/>
            <a:ext cx="1097280" cy="1143000"/>
          </a:xfrm>
          <a:prstGeom prst="rect">
            <a:avLst/>
          </a:prstGeom>
          <a:solidFill>
            <a:srgbClr val="051530"/>
          </a:solidFill>
          <a:ln w="12700">
            <a:solidFill>
              <a:srgbClr val="C8940A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59352" y="1600200"/>
            <a:ext cx="1097280" cy="256032"/>
          </a:xfrm>
          <a:prstGeom prst="rect">
            <a:avLst/>
          </a:prstGeom>
          <a:solidFill>
            <a:srgbClr val="C8940A">
              <a:alpha val="85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59352" y="1600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05072" y="189280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Kamili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Kabla Kununua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56632" y="2148840"/>
            <a:ext cx="146304" cy="0"/>
          </a:xfrm>
          <a:prstGeom prst="line">
            <a:avLst/>
          </a:prstGeom>
          <a:noFill/>
          <a:ln w="15240">
            <a:solidFill>
              <a:srgbClr val="C894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02936" y="1600200"/>
            <a:ext cx="1097280" cy="1143000"/>
          </a:xfrm>
          <a:prstGeom prst="rect">
            <a:avLst/>
          </a:prstGeom>
          <a:solidFill>
            <a:srgbClr val="051530"/>
          </a:solidFill>
          <a:ln w="12700">
            <a:solidFill>
              <a:srgbClr val="0A7EA4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02936" y="1600200"/>
            <a:ext cx="1097280" cy="256032"/>
          </a:xfrm>
          <a:prstGeom prst="rect">
            <a:avLst/>
          </a:prstGeom>
          <a:solidFill>
            <a:srgbClr val="0A7EA4">
              <a:alpha val="85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02936" y="1600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48656" y="189280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Usafirishaji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300216" y="2148840"/>
            <a:ext cx="146304" cy="0"/>
          </a:xfrm>
          <a:prstGeom prst="line">
            <a:avLst/>
          </a:prstGeom>
          <a:noFill/>
          <a:ln w="15240">
            <a:solidFill>
              <a:srgbClr val="C8940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1600200"/>
            <a:ext cx="1097280" cy="1143000"/>
          </a:xfrm>
          <a:prstGeom prst="rect">
            <a:avLst/>
          </a:prstGeom>
          <a:solidFill>
            <a:srgbClr val="051530"/>
          </a:solidFill>
          <a:ln w="12700">
            <a:solidFill>
              <a:srgbClr val="C8940A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46520" y="1600200"/>
            <a:ext cx="1097280" cy="256032"/>
          </a:xfrm>
          <a:prstGeom prst="rect">
            <a:avLst/>
          </a:prstGeom>
          <a:solidFill>
            <a:srgbClr val="C8940A">
              <a:alpha val="85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1600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92240" y="189280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Fuatilia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Mizigo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543800" y="2148840"/>
            <a:ext cx="146304" cy="0"/>
          </a:xfrm>
          <a:prstGeom prst="line">
            <a:avLst/>
          </a:prstGeom>
          <a:noFill/>
          <a:ln w="15240">
            <a:solidFill>
              <a:srgbClr val="C8940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0104" y="1600200"/>
            <a:ext cx="1097280" cy="1143000"/>
          </a:xfrm>
          <a:prstGeom prst="rect">
            <a:avLst/>
          </a:prstGeom>
          <a:solidFill>
            <a:srgbClr val="051530"/>
          </a:solidFill>
          <a:ln w="12700">
            <a:solidFill>
              <a:srgbClr val="0A7EA4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690104" y="1600200"/>
            <a:ext cx="1097280" cy="256032"/>
          </a:xfrm>
          <a:prstGeom prst="rect">
            <a:avLst/>
          </a:prstGeom>
          <a:solidFill>
            <a:srgbClr val="0A7EA4">
              <a:alpha val="85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90104" y="1600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35824" y="189280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Forodha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2926080"/>
            <a:ext cx="2743200" cy="1993392"/>
          </a:xfrm>
          <a:prstGeom prst="rect">
            <a:avLst/>
          </a:prstGeom>
          <a:solidFill>
            <a:srgbClr val="051530"/>
          </a:solidFill>
          <a:ln w="6350">
            <a:solidFill>
              <a:srgbClr val="C8940A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2926080"/>
            <a:ext cx="2743200" cy="292608"/>
          </a:xfrm>
          <a:prstGeom prst="rect">
            <a:avLst/>
          </a:prstGeom>
          <a:solidFill>
            <a:srgbClr val="C8940A">
              <a:alpha val="80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292608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SIX CARGO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84048" y="32918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Wasambazaji waliothibitishwa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4048" y="35935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Maghala China, Dubai, Uturuki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84048" y="389534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Timu za ukaguzi wa ubora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84048" y="419709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Kontena za ushirikiano (LCL)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4048" y="449884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Usafirishaji wa kimataifa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18688" y="2926080"/>
            <a:ext cx="2743200" cy="1993392"/>
          </a:xfrm>
          <a:prstGeom prst="rect">
            <a:avLst/>
          </a:prstGeom>
          <a:solidFill>
            <a:srgbClr val="051530"/>
          </a:solidFill>
          <a:ln w="6350">
            <a:solidFill>
              <a:srgbClr val="0A7EA4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18688" y="2926080"/>
            <a:ext cx="2743200" cy="292608"/>
          </a:xfrm>
          <a:prstGeom prst="rect">
            <a:avLst/>
          </a:prstGeom>
          <a:solidFill>
            <a:srgbClr val="0A7EA4">
              <a:alpha val="80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28416" y="292608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SAMI AGENCY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328416" y="32918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Clearing ya forodha Tanzania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328416" y="35935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Usafirishaji wa ndani (Dar + mikoa)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328416" y="389534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Uhifadhi wa muda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328416" y="419709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Utoaji hadi mlangoni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328416" y="449884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Msaada wa wateja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63056" y="2926080"/>
            <a:ext cx="2743200" cy="1993392"/>
          </a:xfrm>
          <a:prstGeom prst="rect">
            <a:avLst/>
          </a:prstGeom>
          <a:solidFill>
            <a:srgbClr val="051530"/>
          </a:solidFill>
          <a:ln w="6350">
            <a:solidFill>
              <a:srgbClr val="E8EEF6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163056" y="2926080"/>
            <a:ext cx="2743200" cy="292608"/>
          </a:xfrm>
          <a:prstGeom prst="rect">
            <a:avLst/>
          </a:prstGeom>
          <a:solidFill>
            <a:srgbClr val="E8EEF6">
              <a:alpha val="80000"/>
            </a:srgbClr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72784" y="292608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APP ENGINE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272784" y="32918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sourcing engine (Swahili)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272784" y="35935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Landed Cost Calculator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272784" y="389534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tracking (hatua 6)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272784" y="419709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Mfumo wa malipo ya digital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272784" y="449884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Dashibodi ya mfanyabiashara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SIX APP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47472"/>
            <a:ext cx="8595360" cy="0"/>
          </a:xfrm>
          <a:prstGeom prst="line">
            <a:avLst/>
          </a:prstGeom>
          <a:noFill/>
          <a:ln w="6350">
            <a:solidFill>
              <a:srgbClr val="C8940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Mtandao wa Wasambazaji Uliodhibitiwa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Kizuizi kikubwa: 10 wasambazaji tu kwa kila kategoria — wakaguliwa kimwili, wanaofuatiliwa, wanaobadilishwa ikiwa hawatimii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5486400" cy="320040"/>
          </a:xfrm>
          <a:prstGeom prst="rect">
            <a:avLst/>
          </a:prstGeom>
          <a:solidFill>
            <a:srgbClr val="002A66"/>
          </a:solidFill>
          <a:ln w="6350">
            <a:solidFill>
              <a:srgbClr val="C8940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0" y="1508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8328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NCHI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5486400" cy="384048"/>
          </a:xfrm>
          <a:prstGeom prst="rect">
            <a:avLst/>
          </a:prstGeom>
          <a:solidFill>
            <a:srgbClr val="051530"/>
          </a:solidFill>
          <a:ln w="3810">
            <a:solidFill>
              <a:srgbClr val="C8940A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828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Vipodozi &amp; Beauty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97480" y="1911096"/>
            <a:ext cx="457200" cy="219456"/>
          </a:xfrm>
          <a:prstGeom prst="rect">
            <a:avLst/>
          </a:prstGeom>
          <a:solidFill>
            <a:srgbClr val="C8940A">
              <a:alpha val="80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9110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1828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· Uturuki · India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212848"/>
            <a:ext cx="5486400" cy="384048"/>
          </a:xfrm>
          <a:prstGeom prst="rect">
            <a:avLst/>
          </a:prstGeom>
          <a:solidFill>
            <a:srgbClr val="002A66"/>
          </a:solidFill>
          <a:ln w="3810">
            <a:solidFill>
              <a:srgbClr val="C8940A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2128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 &amp; Vipuri vya Umeme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97480" y="2295144"/>
            <a:ext cx="457200" cy="219456"/>
          </a:xfrm>
          <a:prstGeom prst="rect">
            <a:avLst/>
          </a:prstGeom>
          <a:solidFill>
            <a:srgbClr val="C8940A">
              <a:alpha val="80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22951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· UAE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596896"/>
            <a:ext cx="5486400" cy="384048"/>
          </a:xfrm>
          <a:prstGeom prst="rect">
            <a:avLst/>
          </a:prstGeom>
          <a:solidFill>
            <a:srgbClr val="051530"/>
          </a:solidFill>
          <a:ln w="3810">
            <a:solidFill>
              <a:srgbClr val="C8940A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5968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Mitindo &amp; Mavazi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97480" y="2679192"/>
            <a:ext cx="457200" cy="219456"/>
          </a:xfrm>
          <a:prstGeom prst="rect">
            <a:avLst/>
          </a:prstGeom>
          <a:solidFill>
            <a:srgbClr val="C8940A">
              <a:alpha val="80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26791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25968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· Uturuki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980944"/>
            <a:ext cx="5486400" cy="384048"/>
          </a:xfrm>
          <a:prstGeom prst="rect">
            <a:avLst/>
          </a:prstGeom>
          <a:solidFill>
            <a:srgbClr val="002A66"/>
          </a:solidFill>
          <a:ln w="3810">
            <a:solidFill>
              <a:srgbClr val="C8940A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9809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&amp; Nishati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97480" y="3063240"/>
            <a:ext cx="457200" cy="219456"/>
          </a:xfrm>
          <a:prstGeom prst="rect">
            <a:avLst/>
          </a:prstGeom>
          <a:solidFill>
            <a:srgbClr val="C8940A">
              <a:alpha val="80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3063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91840" y="29809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· India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364992"/>
            <a:ext cx="5486400" cy="384048"/>
          </a:xfrm>
          <a:prstGeom prst="rect">
            <a:avLst/>
          </a:prstGeom>
          <a:solidFill>
            <a:srgbClr val="051530"/>
          </a:solidFill>
          <a:ln w="3810">
            <a:solidFill>
              <a:srgbClr val="C8940A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3649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Ujenzi &amp; Vifaa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97480" y="3447288"/>
            <a:ext cx="457200" cy="219456"/>
          </a:xfrm>
          <a:prstGeom prst="rect">
            <a:avLst/>
          </a:prstGeom>
          <a:solidFill>
            <a:srgbClr val="C8940A">
              <a:alpha val="80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97480" y="34472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3364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· UAE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749040"/>
            <a:ext cx="5486400" cy="384048"/>
          </a:xfrm>
          <a:prstGeom prst="rect">
            <a:avLst/>
          </a:prstGeom>
          <a:solidFill>
            <a:srgbClr val="002A66"/>
          </a:solidFill>
          <a:ln w="3810">
            <a:solidFill>
              <a:srgbClr val="C8940A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749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Pembejeo za Kilimo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697480" y="3831336"/>
            <a:ext cx="457200" cy="219456"/>
          </a:xfrm>
          <a:prstGeom prst="rect">
            <a:avLst/>
          </a:prstGeom>
          <a:solidFill>
            <a:srgbClr val="C8940A">
              <a:alpha val="80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97480" y="3831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9184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China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43600" y="1508760"/>
            <a:ext cx="2926080" cy="3401568"/>
          </a:xfrm>
          <a:prstGeom prst="rect">
            <a:avLst/>
          </a:prstGeom>
          <a:solidFill>
            <a:srgbClr val="051530"/>
          </a:solidFill>
          <a:ln w="6350">
            <a:solidFill>
              <a:srgbClr val="0A7EA4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943600" y="1508760"/>
            <a:ext cx="2926080" cy="320040"/>
          </a:xfrm>
          <a:prstGeom prst="rect">
            <a:avLst/>
          </a:prstGeom>
          <a:solidFill>
            <a:srgbClr val="0A7EA4">
              <a:alpha val="80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53328" y="150876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VIGEZO VYA WASAMBAZAJI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53328" y="19202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63640" y="19019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Ukaguzi wa kimwili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63640" y="21031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visit na timu ya Six Cargo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53328" y="24140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63640" y="23957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Majaribio ya usafirishaji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63640" y="25968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Agizo la majaribio kabla ya orodha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053328" y="29077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63640" y="2889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Alama ya mfumo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263640" y="30906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inayohesabika kila wakati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053328" y="34015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63640" y="33832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Ripoti ya ubora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263640" y="35844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+ picha za bidhaa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053328" y="38953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63640" y="38770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Ufuatiliaji wa mara kwa mara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263640" y="40782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Tathmini kila miezi 3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053328" y="43891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263640" y="4370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Mkataba wa kisheria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263640" y="45720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Makubaliano rasmi ya usafirishaji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74320" y="481888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Wasambazaji wakikosoa ubora → wanabadilishwa mara moja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SIX APP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47472"/>
            <a:ext cx="8595360" cy="0"/>
          </a:xfrm>
          <a:prstGeom prst="line">
            <a:avLst/>
          </a:prstGeom>
          <a:noFill/>
          <a:ln w="6350">
            <a:solidFill>
              <a:srgbClr val="C8940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FEATURE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Landed Cost Engine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15214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KAMILI kabla ya kununua — hakuna mshangao wa gharama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MUUNDO WA BEI YA UWASILISHAJI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ya Bidhaa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1883664"/>
            <a:ext cx="2194560" cy="201168"/>
          </a:xfrm>
          <a:prstGeom prst="rect">
            <a:avLst/>
          </a:prstGeom>
          <a:solidFill>
            <a:srgbClr val="051530"/>
          </a:solidFill>
          <a:ln w="6350">
            <a:solidFill>
              <a:srgbClr val="002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883664"/>
            <a:ext cx="1360627" cy="201168"/>
          </a:xfrm>
          <a:prstGeom prst="rect">
            <a:avLst/>
          </a:prstGeom>
          <a:solidFill>
            <a:srgbClr val="0A7EA4">
              <a:alpha val="80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828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Nauli ya Usafirishaji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0" y="2340864"/>
            <a:ext cx="2194560" cy="201168"/>
          </a:xfrm>
          <a:prstGeom prst="rect">
            <a:avLst/>
          </a:prstGeom>
          <a:solidFill>
            <a:srgbClr val="051530"/>
          </a:solidFill>
          <a:ln w="6350">
            <a:solidFill>
              <a:srgbClr val="002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2340864"/>
            <a:ext cx="307238" cy="201168"/>
          </a:xfrm>
          <a:prstGeom prst="rect">
            <a:avLst/>
          </a:prstGeom>
          <a:solidFill>
            <a:srgbClr val="C8940A">
              <a:alpha val="80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28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Ushuru wa Forodha (TRA)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0" y="2798064"/>
            <a:ext cx="2194560" cy="201168"/>
          </a:xfrm>
          <a:prstGeom prst="rect">
            <a:avLst/>
          </a:prstGeom>
          <a:solidFill>
            <a:srgbClr val="051530"/>
          </a:solidFill>
          <a:ln w="6350">
            <a:solidFill>
              <a:srgbClr val="002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2798064"/>
            <a:ext cx="241402" cy="201168"/>
          </a:xfrm>
          <a:prstGeom prst="rect">
            <a:avLst/>
          </a:prstGeom>
          <a:solidFill>
            <a:srgbClr val="E05252">
              <a:alpha val="80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0" y="3255264"/>
            <a:ext cx="2194560" cy="201168"/>
          </a:xfrm>
          <a:prstGeom prst="rect">
            <a:avLst/>
          </a:prstGeom>
          <a:solidFill>
            <a:srgbClr val="051530"/>
          </a:solidFill>
          <a:ln w="6350">
            <a:solidFill>
              <a:srgbClr val="002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3255264"/>
            <a:ext cx="131674" cy="201168"/>
          </a:xfrm>
          <a:prstGeom prst="rect">
            <a:avLst/>
          </a:prstGeom>
          <a:solidFill>
            <a:srgbClr val="A064CC">
              <a:alpha val="80000"/>
            </a:srgbClr>
          </a:solidFill>
          <a:ln w="12700">
            <a:solidFill>
              <a:srgbClr val="A06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6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Gharama za Bandari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0" y="3712464"/>
            <a:ext cx="2194560" cy="201168"/>
          </a:xfrm>
          <a:prstGeom prst="rect">
            <a:avLst/>
          </a:prstGeom>
          <a:solidFill>
            <a:srgbClr val="051530"/>
          </a:solidFill>
          <a:ln w="6350">
            <a:solidFill>
              <a:srgbClr val="002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0" y="3712464"/>
            <a:ext cx="87782" cy="201168"/>
          </a:xfrm>
          <a:prstGeom prst="rect">
            <a:avLst/>
          </a:prstGeom>
          <a:solidFill>
            <a:srgbClr val="4CAF50">
              <a:alpha val="8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657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Usafirishaji wa Ndani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0" y="4169664"/>
            <a:ext cx="2194560" cy="201168"/>
          </a:xfrm>
          <a:prstGeom prst="rect">
            <a:avLst/>
          </a:prstGeom>
          <a:solidFill>
            <a:srgbClr val="051530"/>
          </a:solidFill>
          <a:ln w="6350">
            <a:solidFill>
              <a:srgbClr val="002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0" y="4169664"/>
            <a:ext cx="65837" cy="201168"/>
          </a:xfrm>
          <a:prstGeom prst="rect">
            <a:avLst/>
          </a:prstGeom>
          <a:solidFill>
            <a:srgbClr val="E8EEF6">
              <a:alpha val="80000"/>
            </a:srgbClr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77840" y="1508760"/>
            <a:ext cx="3291840" cy="3401568"/>
          </a:xfrm>
          <a:prstGeom prst="rect">
            <a:avLst/>
          </a:prstGeom>
          <a:solidFill>
            <a:srgbClr val="051530"/>
          </a:solidFill>
          <a:ln w="6350">
            <a:solidFill>
              <a:srgbClr val="C8940A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77840" y="1508760"/>
            <a:ext cx="3291840" cy="347472"/>
          </a:xfrm>
          <a:prstGeom prst="rect">
            <a:avLst/>
          </a:prstGeom>
          <a:solidFill>
            <a:srgbClr val="C8940A">
              <a:alpha val="85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87568" y="1508760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MFANO WA HESABU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87568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Bidhaa (Simu 100)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68096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87568" y="2313432"/>
            <a:ext cx="3072384" cy="0"/>
          </a:xfrm>
          <a:prstGeom prst="line">
            <a:avLst/>
          </a:prstGeom>
          <a:noFill/>
          <a:ln w="6350">
            <a:solidFill>
              <a:srgbClr val="002A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87568" y="2350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Nauli ya Sea Freight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680960" y="23500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687568" y="2697480"/>
            <a:ext cx="3072384" cy="0"/>
          </a:xfrm>
          <a:prstGeom prst="line">
            <a:avLst/>
          </a:prstGeom>
          <a:noFill/>
          <a:ln w="6350">
            <a:solidFill>
              <a:srgbClr val="002A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27340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Ushuru wa Forodha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680960" y="27340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687568" y="3081528"/>
            <a:ext cx="3072384" cy="0"/>
          </a:xfrm>
          <a:prstGeom prst="line">
            <a:avLst/>
          </a:prstGeom>
          <a:noFill/>
          <a:ln w="6350">
            <a:solidFill>
              <a:srgbClr val="002A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87568" y="31181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(18%)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680960" y="31181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687568" y="3465576"/>
            <a:ext cx="3072384" cy="0"/>
          </a:xfrm>
          <a:prstGeom prst="line">
            <a:avLst/>
          </a:prstGeom>
          <a:noFill/>
          <a:ln w="6350">
            <a:solidFill>
              <a:srgbClr val="002A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87568" y="3502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Gharama za TPA/Bandari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680960" y="35021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687568" y="3849624"/>
            <a:ext cx="3072384" cy="0"/>
          </a:xfrm>
          <a:prstGeom prst="line">
            <a:avLst/>
          </a:prstGeom>
          <a:noFill/>
          <a:ln w="6350">
            <a:solidFill>
              <a:srgbClr val="002A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87568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Dar es Salaam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680960" y="3886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577840" y="4279392"/>
            <a:ext cx="3291840" cy="475488"/>
          </a:xfrm>
          <a:prstGeom prst="rect">
            <a:avLst/>
          </a:prstGeom>
          <a:solidFill>
            <a:srgbClr val="C8940A">
              <a:alpha val="90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87568" y="42793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 YA UWASILISHAJI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406640" y="427939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$5,520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Mfanyabiashara anaona hii KABLA ya kuchagua kuununua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SIX APP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47472"/>
            <a:ext cx="8595360" cy="0"/>
          </a:xfrm>
          <a:prstGeom prst="line">
            <a:avLst/>
          </a:prstGeom>
          <a:noFill/>
          <a:ln w="6350">
            <a:solidFill>
              <a:srgbClr val="C8940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Uchumi wa Kila Mzigo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1521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Wastani wa mzigo mmoja wa SME — thamani $8,000 | CBM 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320040"/>
          </a:xfrm>
          <a:prstGeom prst="rect">
            <a:avLst/>
          </a:prstGeom>
          <a:solidFill>
            <a:srgbClr val="002A66"/>
          </a:solidFill>
          <a:ln w="6350">
            <a:solidFill>
              <a:srgbClr val="C8940A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508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CHANZO CHA MAPATO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36592" y="1508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MAPATO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08192" y="1508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GHARAMA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479792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FAIDA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828800"/>
            <a:ext cx="8595360" cy="402336"/>
          </a:xfrm>
          <a:prstGeom prst="rect">
            <a:avLst/>
          </a:prstGeom>
          <a:solidFill>
            <a:srgbClr val="051530"/>
          </a:solidFill>
          <a:ln w="3810">
            <a:solidFill>
              <a:srgbClr val="C8940A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920240"/>
            <a:ext cx="36576" cy="21945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8288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Nauli ya Usafirishaji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36592" y="18288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$1,770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08192" y="18288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79792" y="18288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231136"/>
            <a:ext cx="8595360" cy="402336"/>
          </a:xfrm>
          <a:prstGeom prst="rect">
            <a:avLst/>
          </a:prstGeom>
          <a:solidFill>
            <a:srgbClr val="002A66"/>
          </a:solidFill>
          <a:ln w="3810">
            <a:solidFill>
              <a:srgbClr val="C8940A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322576"/>
            <a:ext cx="36576" cy="219456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23113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ya Forodha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223113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08192" y="223113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79792" y="223113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51530"/>
          </a:solidFill>
          <a:ln w="3810">
            <a:solidFill>
              <a:srgbClr val="C8940A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724912"/>
            <a:ext cx="36576" cy="21945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63347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Uhifadhi wa Bidhaa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36592" y="26334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08192" y="26334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479792" y="263347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035808"/>
            <a:ext cx="8595360" cy="402336"/>
          </a:xfrm>
          <a:prstGeom prst="rect">
            <a:avLst/>
          </a:prstGeom>
          <a:solidFill>
            <a:srgbClr val="002A66"/>
          </a:solidFill>
          <a:ln w="3810">
            <a:solidFill>
              <a:srgbClr val="C8940A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127248"/>
            <a:ext cx="36576" cy="219456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03580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Usafirishaji wa Ndani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36592" y="30358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08192" y="30358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79792" y="303580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438144"/>
            <a:ext cx="8595360" cy="402336"/>
          </a:xfrm>
          <a:prstGeom prst="rect">
            <a:avLst/>
          </a:prstGeom>
          <a:solidFill>
            <a:srgbClr val="051530"/>
          </a:solidFill>
          <a:ln w="3810">
            <a:solidFill>
              <a:srgbClr val="C8940A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3529584"/>
            <a:ext cx="36576" cy="21945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43814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ya Jukwaa (2%)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36592" y="343814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08192" y="343814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79792" y="34381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3840480"/>
            <a:ext cx="8595360" cy="402336"/>
          </a:xfrm>
          <a:prstGeom prst="rect">
            <a:avLst/>
          </a:prstGeom>
          <a:solidFill>
            <a:srgbClr val="002A66"/>
          </a:solidFill>
          <a:ln w="3810">
            <a:solidFill>
              <a:srgbClr val="C8940A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3931920"/>
            <a:ext cx="36576" cy="219456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38404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Fedha za Biashara (Siku zijazo)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36592" y="384048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08192" y="384048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479792" y="384048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4261104"/>
            <a:ext cx="8595360" cy="438912"/>
          </a:xfrm>
          <a:prstGeom prst="rect">
            <a:avLst/>
          </a:prstGeom>
          <a:solidFill>
            <a:srgbClr val="C8940A">
              <a:alpha val="85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426110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JUMLA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736592" y="426110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$3,700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108192" y="426110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$2,450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479792" y="426110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$1,250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33.7%  |  Break-even: Mizigo 160/mwezi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SIX APP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47472"/>
            <a:ext cx="8595360" cy="0"/>
          </a:xfrm>
          <a:prstGeom prst="line">
            <a:avLst/>
          </a:prstGeom>
          <a:noFill/>
          <a:ln w="6350">
            <a:solidFill>
              <a:srgbClr val="C8940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Makadirio ya Fedha — Miaka 5</a:t>
            </a:r>
            <a:endParaRPr lang="en-US" sz="2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23444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1234440"/>
            <a:ext cx="3108960" cy="594360"/>
          </a:xfrm>
          <a:prstGeom prst="rect">
            <a:avLst/>
          </a:prstGeom>
          <a:solidFill>
            <a:srgbClr val="051530"/>
          </a:solidFill>
          <a:ln w="6350">
            <a:solidFill>
              <a:srgbClr val="0A7EA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33872" y="12801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A4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Y1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54496" y="1325880"/>
            <a:ext cx="0" cy="411480"/>
          </a:xfrm>
          <a:prstGeom prst="line">
            <a:avLst/>
          </a:prstGeom>
          <a:noFill/>
          <a:ln w="5080">
            <a:solidFill>
              <a:srgbClr val="8899AA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12710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$8.8M  rev  |  $3M  faida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355080" y="15270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2,000/mo  ·  Dar es Salaam MVP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760720" y="1901952"/>
            <a:ext cx="3108960" cy="594360"/>
          </a:xfrm>
          <a:prstGeom prst="rect">
            <a:avLst/>
          </a:prstGeom>
          <a:solidFill>
            <a:srgbClr val="051530"/>
          </a:solidFill>
          <a:ln w="6350">
            <a:solidFill>
              <a:srgbClr val="0A7EA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33872" y="19476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A4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Y2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54496" y="1993392"/>
            <a:ext cx="0" cy="411480"/>
          </a:xfrm>
          <a:prstGeom prst="line">
            <a:avLst/>
          </a:prstGeom>
          <a:noFill/>
          <a:ln w="5080">
            <a:solidFill>
              <a:srgbClr val="8899AA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$22M  rev  |  $8M  faida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355080" y="21945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5,000/mo  ·  Tanzania nzima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760720" y="2569464"/>
            <a:ext cx="3108960" cy="594360"/>
          </a:xfrm>
          <a:prstGeom prst="rect">
            <a:avLst/>
          </a:prstGeom>
          <a:solidFill>
            <a:srgbClr val="051530"/>
          </a:solidFill>
          <a:ln w="6350">
            <a:solidFill>
              <a:srgbClr val="0A7EA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833872" y="261518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A4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Y3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54496" y="2660904"/>
            <a:ext cx="0" cy="411480"/>
          </a:xfrm>
          <a:prstGeom prst="line">
            <a:avLst/>
          </a:prstGeom>
          <a:noFill/>
          <a:ln w="5080">
            <a:solidFill>
              <a:srgbClr val="8899AA">
                <a:alpha val="5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55080" y="2606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$45M  rev  |  $18M  faida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355080" y="28620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10,000/mo  ·  + Kenya/Uganda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760720" y="3236976"/>
            <a:ext cx="3108960" cy="594360"/>
          </a:xfrm>
          <a:prstGeom prst="rect">
            <a:avLst/>
          </a:prstGeom>
          <a:solidFill>
            <a:srgbClr val="051530"/>
          </a:solidFill>
          <a:ln w="6350">
            <a:solidFill>
              <a:srgbClr val="0A7EA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833872" y="328269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A4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Y4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254496" y="3328416"/>
            <a:ext cx="0" cy="411480"/>
          </a:xfrm>
          <a:prstGeom prst="line">
            <a:avLst/>
          </a:prstGeom>
          <a:noFill/>
          <a:ln w="5080">
            <a:solidFill>
              <a:srgbClr val="8899AA">
                <a:alpha val="5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55080" y="32735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$85M  rev  |  $35M  faida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355080" y="352958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20,000/mo  ·  EAC + SADC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760720" y="3904488"/>
            <a:ext cx="3108960" cy="594360"/>
          </a:xfrm>
          <a:prstGeom prst="rect">
            <a:avLst/>
          </a:prstGeom>
          <a:solidFill>
            <a:srgbClr val="051530"/>
          </a:solidFill>
          <a:ln w="6350">
            <a:solidFill>
              <a:srgbClr val="C8940A">
                <a:alpha val="9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833872" y="39502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Y5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254496" y="3995928"/>
            <a:ext cx="0" cy="411480"/>
          </a:xfrm>
          <a:prstGeom prst="line">
            <a:avLst/>
          </a:prstGeom>
          <a:noFill/>
          <a:ln w="5080">
            <a:solidFill>
              <a:srgbClr val="8899AA">
                <a:alpha val="5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55080" y="39410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$150M+  rev  |  $70M+  faida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355080" y="419709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35,000/mo  ·  Afrika nzima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SIX APP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47472"/>
            <a:ext cx="8595360" cy="0"/>
          </a:xfrm>
          <a:prstGeom prst="line">
            <a:avLst/>
          </a:prstGeom>
          <a:noFill/>
          <a:ln w="6350">
            <a:solidFill>
              <a:srgbClr val="C8940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Ukuaji wa Haraka Unaowezekana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15214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Mfumo ulioundwa kuongezeka — miundombinu ya kimwili tayari ipo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2788920" cy="3310128"/>
          </a:xfrm>
          <a:prstGeom prst="rect">
            <a:avLst/>
          </a:prstGeom>
          <a:solidFill>
            <a:srgbClr val="051530"/>
          </a:solidFill>
          <a:ln w="10160">
            <a:solidFill>
              <a:srgbClr val="0A7EA4">
                <a:alpha val="8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54480"/>
            <a:ext cx="2788920" cy="347472"/>
          </a:xfrm>
          <a:prstGeom prst="rect">
            <a:avLst/>
          </a:prstGeom>
          <a:solidFill>
            <a:srgbClr val="0A7EA4">
              <a:alpha val="80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54480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HATUA YA MWANZO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011680"/>
            <a:ext cx="2569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A7EA4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200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384048" y="2834640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Mizigo / Mwezi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2423160" cy="0"/>
          </a:xfrm>
          <a:prstGeom prst="line">
            <a:avLst/>
          </a:prstGeom>
          <a:noFill/>
          <a:ln w="6350">
            <a:solidFill>
              <a:srgbClr val="0A7EA4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246120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FAIDA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4048" y="342900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$250K/mwezi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4048" y="3977640"/>
            <a:ext cx="2569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haraka — Dar es Salaam tu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64408" y="1554480"/>
            <a:ext cx="2788920" cy="3310128"/>
          </a:xfrm>
          <a:prstGeom prst="rect">
            <a:avLst/>
          </a:prstGeom>
          <a:solidFill>
            <a:srgbClr val="051530"/>
          </a:solidFill>
          <a:ln w="10160">
            <a:solidFill>
              <a:srgbClr val="C8940A">
                <a:alpha val="8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1554480"/>
            <a:ext cx="2788920" cy="347472"/>
          </a:xfrm>
          <a:prstGeom prst="rect">
            <a:avLst/>
          </a:prstGeom>
          <a:solidFill>
            <a:srgbClr val="C8940A">
              <a:alpha val="80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1554480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UKUAJI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74136" y="2011680"/>
            <a:ext cx="2569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C8940A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1,000</a:t>
            </a:r>
            <a:endParaRPr lang="en-US" sz="5800" dirty="0"/>
          </a:p>
        </p:txBody>
      </p:sp>
      <p:sp>
        <p:nvSpPr>
          <p:cNvPr id="21" name="Text 19"/>
          <p:cNvSpPr/>
          <p:nvPr/>
        </p:nvSpPr>
        <p:spPr>
          <a:xfrm>
            <a:off x="3374136" y="2834640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Mizigo / Mwezi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47288" y="3154680"/>
            <a:ext cx="2423160" cy="0"/>
          </a:xfrm>
          <a:prstGeom prst="line">
            <a:avLst/>
          </a:prstGeom>
          <a:noFill/>
          <a:ln w="6350">
            <a:solidFill>
              <a:srgbClr val="C8940A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3246120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FAIDA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74136" y="342900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$1.25M/mwezi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374136" y="3977640"/>
            <a:ext cx="2569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nzima + miji mikubwa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54496" y="1554480"/>
            <a:ext cx="2788920" cy="3310128"/>
          </a:xfrm>
          <a:prstGeom prst="rect">
            <a:avLst/>
          </a:prstGeom>
          <a:solidFill>
            <a:srgbClr val="051530"/>
          </a:solidFill>
          <a:ln w="25400">
            <a:solidFill>
              <a:srgbClr val="F0B429">
                <a:alpha val="8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54496" y="1554480"/>
            <a:ext cx="2788920" cy="347472"/>
          </a:xfrm>
          <a:prstGeom prst="rect">
            <a:avLst/>
          </a:prstGeom>
          <a:solidFill>
            <a:srgbClr val="F0B429">
              <a:alpha val="80000"/>
            </a:srgbClr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1554480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KIWANGO KIKUBWA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64224" y="2011680"/>
            <a:ext cx="2569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0B429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5,000</a:t>
            </a:r>
            <a:endParaRPr lang="en-US" sz="5800" dirty="0"/>
          </a:p>
        </p:txBody>
      </p:sp>
      <p:sp>
        <p:nvSpPr>
          <p:cNvPr id="30" name="Text 28"/>
          <p:cNvSpPr/>
          <p:nvPr/>
        </p:nvSpPr>
        <p:spPr>
          <a:xfrm>
            <a:off x="6364224" y="2834640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Mizigo / Mwezi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37376" y="3154680"/>
            <a:ext cx="2423160" cy="0"/>
          </a:xfrm>
          <a:prstGeom prst="line">
            <a:avLst/>
          </a:prstGeom>
          <a:noFill/>
          <a:ln w="6350">
            <a:solidFill>
              <a:srgbClr val="F0B429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3246120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FAIDA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64224" y="342900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$6.25M/mwezi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364224" y="3977640"/>
            <a:ext cx="2569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Afrika Mashariki nzima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956048"/>
            <a:ext cx="8595360" cy="64008"/>
          </a:xfrm>
          <a:prstGeom prst="rect">
            <a:avLst/>
          </a:prstGeom>
          <a:solidFill>
            <a:srgbClr val="C8940A">
              <a:alpha val="40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Gharama za uendeshaji hazibadiliki kwa kasi sawa — faida inakua haraka zaidi kuliko mapato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SIX APP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47472"/>
            <a:ext cx="8595360" cy="0"/>
          </a:xfrm>
          <a:prstGeom prst="line">
            <a:avLst/>
          </a:prstGeom>
          <a:noFill/>
          <a:ln w="6350">
            <a:solidFill>
              <a:srgbClr val="C8940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Kwa Nini Hakuna Mtu Anayeweza Kuiga?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320040"/>
          </a:xfrm>
          <a:prstGeom prst="rect">
            <a:avLst/>
          </a:prstGeom>
          <a:solidFill>
            <a:srgbClr val="002A66"/>
          </a:solidFill>
          <a:ln w="6350">
            <a:solidFill>
              <a:srgbClr val="C894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KIPENGELE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950208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SIX APP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601968" y="141732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WASHINDANI (Alibaba, nk)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8595360" cy="402336"/>
          </a:xfrm>
          <a:prstGeom prst="rect">
            <a:avLst/>
          </a:prstGeom>
          <a:solidFill>
            <a:srgbClr val="051530"/>
          </a:solidFill>
          <a:ln w="3810">
            <a:solidFill>
              <a:srgbClr val="C8940A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737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Wasambazaji Waliohakikishwa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50208" y="17373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tu, wakaguliwa kimwili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601968" y="173736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Mtu yeyote anajisajili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139696"/>
            <a:ext cx="8595360" cy="402336"/>
          </a:xfrm>
          <a:prstGeom prst="rect">
            <a:avLst/>
          </a:prstGeom>
          <a:solidFill>
            <a:srgbClr val="002A66"/>
          </a:solidFill>
          <a:ln w="3810">
            <a:solidFill>
              <a:srgbClr val="C8940A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13969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Kamili Kabla Kununua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50208" y="21396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Kabla ya kuchagua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01968" y="2139696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Inajulikana baadaye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542032"/>
            <a:ext cx="8595360" cy="402336"/>
          </a:xfrm>
          <a:prstGeom prst="rect">
            <a:avLst/>
          </a:prstGeom>
          <a:solidFill>
            <a:srgbClr val="051530"/>
          </a:solidFill>
          <a:ln w="3810">
            <a:solidFill>
              <a:srgbClr val="C8940A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54203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Ukaguzi wa Ubora Kwenye Chanzo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50208" y="25420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Timu zetu China/Dubai/Uturuki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01968" y="2542032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Haipo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944368"/>
            <a:ext cx="8595360" cy="402336"/>
          </a:xfrm>
          <a:prstGeom prst="rect">
            <a:avLst/>
          </a:prstGeom>
          <a:solidFill>
            <a:srgbClr val="002A66"/>
          </a:solidFill>
          <a:ln w="3810">
            <a:solidFill>
              <a:srgbClr val="C8940A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94436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ya Forodha Tanzania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950208" y="29443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Sami Agency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601968" y="294436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Mteja mwenyewe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346704"/>
            <a:ext cx="8595360" cy="402336"/>
          </a:xfrm>
          <a:prstGeom prst="rect">
            <a:avLst/>
          </a:prstGeom>
          <a:solidFill>
            <a:srgbClr val="051530"/>
          </a:solidFill>
          <a:ln w="3810">
            <a:solidFill>
              <a:srgbClr val="C8940A">
                <a:alpha val="2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34670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ya Ndani Tanzania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950208" y="33467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Hadi mlangoni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01968" y="3346704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Haipo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749040"/>
            <a:ext cx="8595360" cy="402336"/>
          </a:xfrm>
          <a:prstGeom prst="rect">
            <a:avLst/>
          </a:prstGeom>
          <a:solidFill>
            <a:srgbClr val="002A66"/>
          </a:solidFill>
          <a:ln w="3810">
            <a:solidFill>
              <a:srgbClr val="C8940A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74904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Lugha ya Swahili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950208" y="37490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Mfumo wote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601968" y="374904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Hapana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572000"/>
            <a:ext cx="8595360" cy="475488"/>
          </a:xfrm>
          <a:prstGeom prst="rect">
            <a:avLst/>
          </a:prstGeom>
          <a:solidFill>
            <a:srgbClr val="C8940A">
              <a:alpha val="85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57200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Kizuizi kikubwa zaidi: Miundombinu ya kimwili (maghala, malori, timu) + teknolojia kwa pamoja — hii inahitaji MIAKA kujenga tena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SIX APP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47472"/>
            <a:ext cx="8595360" cy="0"/>
          </a:xfrm>
          <a:prstGeom prst="line">
            <a:avLst/>
          </a:prstGeom>
          <a:noFill/>
          <a:ln w="6350">
            <a:solidFill>
              <a:srgbClr val="C8940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Mkakati wa Kuingia Sokoni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2788920" cy="3657600"/>
          </a:xfrm>
          <a:prstGeom prst="rect">
            <a:avLst/>
          </a:prstGeom>
          <a:solidFill>
            <a:srgbClr val="051530"/>
          </a:solidFill>
          <a:ln w="6350">
            <a:solidFill>
              <a:srgbClr val="0A7EA4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80160"/>
            <a:ext cx="2788920" cy="685800"/>
          </a:xfrm>
          <a:prstGeom prst="rect">
            <a:avLst/>
          </a:prstGeom>
          <a:solidFill>
            <a:srgbClr val="0A7EA4">
              <a:alpha val="85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98448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AWAMU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58191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Miaka 0–1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2029968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7EA4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Dar es Salaam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84048" y="245059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Kariakoo, Ilala, Kinondoni, Temeke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2880360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Bidhaa za mwanzo: Vipodozi, Nguo, Simu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3310128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Wasambazaji 3 kwa kategoria (→ 10)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3739896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Mizigo 200–500/mwezi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416966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Masoko kupitia WhatsApp + SMS + mawakala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64408" y="1280160"/>
            <a:ext cx="2788920" cy="3657600"/>
          </a:xfrm>
          <a:prstGeom prst="rect">
            <a:avLst/>
          </a:prstGeom>
          <a:solidFill>
            <a:srgbClr val="051530"/>
          </a:solidFill>
          <a:ln w="6350">
            <a:solidFill>
              <a:srgbClr val="C8940A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1280160"/>
            <a:ext cx="2788920" cy="685800"/>
          </a:xfrm>
          <a:prstGeom prst="rect">
            <a:avLst/>
          </a:prstGeom>
          <a:solidFill>
            <a:srgbClr val="C8940A">
              <a:alpha val="85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1298448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AWAMU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74136" y="158191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Miaka 1–2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74136" y="2029968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940A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Tanzania Nzima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374136" y="245059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Mwanza, Arusha, Moshi, Dodoma, Zanzibar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74136" y="2880360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Makundi mapya: Solar, Ujenzi, Kilimo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74136" y="3310128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Malori zaidi ya ushirikiano na mashirika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74136" y="3739896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Mizigo 5,000/mwezi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74136" y="416966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 inayopatikana Google Play + App Store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54496" y="1280160"/>
            <a:ext cx="2788920" cy="3657600"/>
          </a:xfrm>
          <a:prstGeom prst="rect">
            <a:avLst/>
          </a:prstGeom>
          <a:solidFill>
            <a:srgbClr val="051530"/>
          </a:solidFill>
          <a:ln w="6350">
            <a:solidFill>
              <a:srgbClr val="F0B429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54496" y="1280160"/>
            <a:ext cx="2788920" cy="685800"/>
          </a:xfrm>
          <a:prstGeom prst="rect">
            <a:avLst/>
          </a:prstGeom>
          <a:solidFill>
            <a:srgbClr val="F0B429">
              <a:alpha val="85000"/>
            </a:srgbClr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4224" y="1298448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AWAMU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64224" y="158191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Miaka 2–4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64224" y="2029968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B429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Afrika Mashariki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364224" y="245059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Kenya, Uganda, Rwanda, Burundi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64224" y="2880360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Clearing agents za nchi hizo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64224" y="3310128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 ya lugha nyingi (Swahili, English, nk)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64224" y="3739896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Mizigo 10,000–20,000/mwezi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64224" y="416966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Ushirikiano na benki za EAC kwa fedha za biashara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063240" y="1627632"/>
            <a:ext cx="228600" cy="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53328" y="1627632"/>
            <a:ext cx="228600" cy="0"/>
          </a:xfrm>
          <a:prstGeom prst="line">
            <a:avLst/>
          </a:prstGeom>
          <a:noFill/>
          <a:ln w="19050">
            <a:solidFill>
              <a:srgbClr val="C8940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SIX APP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47472"/>
            <a:ext cx="8595360" cy="0"/>
          </a:xfrm>
          <a:prstGeom prst="line">
            <a:avLst/>
          </a:prstGeom>
          <a:noFill/>
          <a:ln w="6350">
            <a:solidFill>
              <a:srgbClr val="C8940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Kwa Nini Afrika? Kwa Nini Sasa?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160520" cy="1051560"/>
          </a:xfrm>
          <a:prstGeom prst="rect">
            <a:avLst/>
          </a:prstGeom>
          <a:solidFill>
            <a:srgbClr val="051530"/>
          </a:solidFill>
          <a:ln w="6350">
            <a:solidFill>
              <a:srgbClr val="0A7EA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5727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554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Dominance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82880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Tanzania: M-Pesa, Tigopesa, Airtel Money — malipo ya kidijitali tayari ya kawaida kwa SMEs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160520" cy="1051560"/>
          </a:xfrm>
          <a:prstGeom prst="rect">
            <a:avLst/>
          </a:prstGeom>
          <a:solidFill>
            <a:srgbClr val="051530"/>
          </a:solidFill>
          <a:ln w="6350">
            <a:solidFill>
              <a:srgbClr val="0A7EA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5727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1554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Utegemezi Mkubwa wa Uagizaji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182880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65%+ ya bidhaa za Tanzania zinatoka nje — soko kubwa lililopo tayari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651760"/>
            <a:ext cx="4160520" cy="1051560"/>
          </a:xfrm>
          <a:prstGeom prst="rect">
            <a:avLst/>
          </a:prstGeom>
          <a:solidFill>
            <a:srgbClr val="051530"/>
          </a:solidFill>
          <a:ln w="6350">
            <a:solidFill>
              <a:srgbClr val="0A7EA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27614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743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Msingi Mkubwa wa SMEs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0175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Zaidi ya SMEs 3 milioni Tanzania — wengi wao wanategemea uagizaji kutoka Asia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651760"/>
            <a:ext cx="4160520" cy="1051560"/>
          </a:xfrm>
          <a:prstGeom prst="rect">
            <a:avLst/>
          </a:prstGeom>
          <a:solidFill>
            <a:srgbClr val="051530"/>
          </a:solidFill>
          <a:ln w="6350">
            <a:solidFill>
              <a:srgbClr val="0A7EA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73168" y="27614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57800" y="2743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Mfumo wa Biashara Umevunjika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30175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na clearing hazina mfumo mmoja wa kidijitali — nafasi ya mwanzilishi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840480"/>
            <a:ext cx="4160520" cy="1051560"/>
          </a:xfrm>
          <a:prstGeom prst="rect">
            <a:avLst/>
          </a:prstGeom>
          <a:solidFill>
            <a:srgbClr val="051530"/>
          </a:solidFill>
          <a:ln w="6350">
            <a:solidFill>
              <a:srgbClr val="0A7EA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39502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8680" y="3931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Masoko ya Jirani Yanakua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2062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EAC: Tanzania, Kenya, Uganda, Rwanda — soko moja la watu milioni 300+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3840480"/>
            <a:ext cx="4160520" cy="1051560"/>
          </a:xfrm>
          <a:prstGeom prst="rect">
            <a:avLst/>
          </a:prstGeom>
          <a:solidFill>
            <a:srgbClr val="051530"/>
          </a:solidFill>
          <a:ln w="6350">
            <a:solidFill>
              <a:srgbClr val="0A7EA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73168" y="39502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57800" y="3931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Teknolojia Rahisi Kufikia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42062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 za bei nafuu na data ya bei nafuu — mfanyabiashara yeyote anaweza kutumia app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SIX APP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47472"/>
            <a:ext cx="8595360" cy="0"/>
          </a:xfrm>
          <a:prstGeom prst="line">
            <a:avLst/>
          </a:prstGeom>
          <a:noFill/>
          <a:ln w="6350">
            <a:solidFill>
              <a:srgbClr val="C8940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ASK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Ombi la Uwekezaji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2788920" cy="3584448"/>
          </a:xfrm>
          <a:prstGeom prst="rect">
            <a:avLst/>
          </a:prstGeom>
          <a:solidFill>
            <a:srgbClr val="051530"/>
          </a:solidFill>
          <a:ln w="25400">
            <a:solidFill>
              <a:srgbClr val="0A7EA4">
                <a:alpha val="8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80160"/>
            <a:ext cx="2788920" cy="347472"/>
          </a:xfrm>
          <a:prstGeom prst="rect">
            <a:avLst/>
          </a:prstGeom>
          <a:solidFill>
            <a:srgbClr val="0A7EA4">
              <a:alpha val="85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80160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MBEGU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737360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011680"/>
            <a:ext cx="2569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7EA4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$1M – $3M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84048" y="2532888"/>
            <a:ext cx="2560320" cy="0"/>
          </a:xfrm>
          <a:prstGeom prst="line">
            <a:avLst/>
          </a:prstGeom>
          <a:noFill/>
          <a:ln w="6350">
            <a:solidFill>
              <a:srgbClr val="0A7EA4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633472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MVP ya App (6–9 miezi)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4048" y="3035808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Timu ya msingi ya uendeshaji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4048" y="3438144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Mtandao wa wasambazaji (3→10 kwa kategoria)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" y="3840480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Masoko ya Dar es Salaam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4048" y="4242816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Mifumo ya tracking na malipo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64408" y="1280160"/>
            <a:ext cx="2788920" cy="3584448"/>
          </a:xfrm>
          <a:prstGeom prst="rect">
            <a:avLst/>
          </a:prstGeom>
          <a:solidFill>
            <a:srgbClr val="051530"/>
          </a:solidFill>
          <a:ln w="10160">
            <a:solidFill>
              <a:srgbClr val="C8940A">
                <a:alpha val="8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64408" y="1280160"/>
            <a:ext cx="2788920" cy="347472"/>
          </a:xfrm>
          <a:prstGeom prst="rect">
            <a:avLst/>
          </a:prstGeom>
          <a:solidFill>
            <a:srgbClr val="C8940A">
              <a:alpha val="85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4136" y="1280160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SERIES 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74136" y="1737360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Round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74136" y="2011680"/>
            <a:ext cx="2569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40A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$5M – $15M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374136" y="2532888"/>
            <a:ext cx="2560320" cy="0"/>
          </a:xfrm>
          <a:prstGeom prst="line">
            <a:avLst/>
          </a:prstGeom>
          <a:noFill/>
          <a:ln w="6350">
            <a:solidFill>
              <a:srgbClr val="C8940A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4136" y="2633472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Upanuzi wa kikanda (Tanzania nzima)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74136" y="3035808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Malori ya ziada + maghala ya ndani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74136" y="3438144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Tech team ya kudumu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74136" y="3840480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Masoko ya kina — TV, radio, kidijitali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74136" y="4242816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Mifumo ya fedha za biashara (SME credit)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54496" y="1280160"/>
            <a:ext cx="2788920" cy="3584448"/>
          </a:xfrm>
          <a:prstGeom prst="rect">
            <a:avLst/>
          </a:prstGeom>
          <a:solidFill>
            <a:srgbClr val="051530"/>
          </a:solidFill>
          <a:ln w="10160">
            <a:solidFill>
              <a:srgbClr val="F0B429">
                <a:alpha val="8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54496" y="1280160"/>
            <a:ext cx="2788920" cy="347472"/>
          </a:xfrm>
          <a:prstGeom prst="rect">
            <a:avLst/>
          </a:prstGeom>
          <a:solidFill>
            <a:srgbClr val="F0B429">
              <a:alpha val="85000"/>
            </a:srgbClr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4224" y="1280160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SCALE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64224" y="1737360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Phase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64224" y="2011680"/>
            <a:ext cx="2569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$20M+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6364224" y="2532888"/>
            <a:ext cx="2560320" cy="0"/>
          </a:xfrm>
          <a:prstGeom prst="line">
            <a:avLst/>
          </a:prstGeom>
          <a:noFill/>
          <a:ln w="6350">
            <a:solidFill>
              <a:srgbClr val="F0B429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4224" y="2633472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Miundombinu ya Afrika Mashariki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64224" y="3035808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Ushirikiano wa benki za kikanda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64224" y="3438144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center na AI ya juu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64224" y="3840480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Mawakala wa nchi zaidi (India, Uturuki, Iran)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64224" y="4242816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Sehemu ya hisa ya umma (IPO pathway)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4919472"/>
            <a:ext cx="8595360" cy="109728"/>
          </a:xfrm>
          <a:prstGeom prst="rect">
            <a:avLst/>
          </a:prstGeom>
          <a:solidFill>
            <a:srgbClr val="C8940A">
              <a:alpha val="40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Uwekezaji wa $3M leo → Faida inayokadiriwa $70M+ Mwaka 5  |  Margin ya 33.7% inayodumu na kukua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SIX APP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47472"/>
            <a:ext cx="8595360" cy="0"/>
          </a:xfrm>
          <a:prstGeom prst="line">
            <a:avLst/>
          </a:prstGeom>
          <a:noFill/>
          <a:ln w="6350">
            <a:solidFill>
              <a:srgbClr val="C8940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38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VALUE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Kwa Nini Wawekezaji Wanashinda Hapa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4160520" cy="1078992"/>
          </a:xfrm>
          <a:prstGeom prst="rect">
            <a:avLst/>
          </a:prstGeom>
          <a:solidFill>
            <a:srgbClr val="051530"/>
          </a:solidFill>
          <a:ln w="6350">
            <a:solidFill>
              <a:srgbClr val="C8940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25880"/>
            <a:ext cx="45720" cy="1078992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417320"/>
            <a:ext cx="438912" cy="274320"/>
          </a:xfrm>
          <a:prstGeom prst="rect">
            <a:avLst/>
          </a:prstGeom>
          <a:solidFill>
            <a:srgbClr val="C8940A">
              <a:alpha val="80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173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1417320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ya Juu Inayodumu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176479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33.7% gross margin kwa mzigo. Inalindwa na miundombinu ya kumiliki — si mapato ya kawaida ya kidijitali.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4160520" cy="1078992"/>
          </a:xfrm>
          <a:prstGeom prst="rect">
            <a:avLst/>
          </a:prstGeom>
          <a:solidFill>
            <a:srgbClr val="051530"/>
          </a:solidFill>
          <a:ln w="6350">
            <a:solidFill>
              <a:srgbClr val="0A7EA4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25880"/>
            <a:ext cx="45720" cy="1078992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417320"/>
            <a:ext cx="438912" cy="274320"/>
          </a:xfrm>
          <a:prstGeom prst="rect">
            <a:avLst/>
          </a:prstGeom>
          <a:solidFill>
            <a:srgbClr val="0A7EA4">
              <a:alpha val="80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4173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21808" y="1417320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Inaweza Kupanuka Afrika Nzima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176479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Mfano mmoja wa biashara unaofanya kazi Tanzania unaweza kubebwa moja kwa moja Kenya, Uganda, Rwanda.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514600"/>
            <a:ext cx="4160520" cy="1078992"/>
          </a:xfrm>
          <a:prstGeom prst="rect">
            <a:avLst/>
          </a:prstGeom>
          <a:solidFill>
            <a:srgbClr val="051530"/>
          </a:solidFill>
          <a:ln w="6350">
            <a:solidFill>
              <a:srgbClr val="C8940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514600"/>
            <a:ext cx="45720" cy="1078992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606040"/>
            <a:ext cx="438912" cy="274320"/>
          </a:xfrm>
          <a:prstGeom prst="rect">
            <a:avLst/>
          </a:prstGeom>
          <a:solidFill>
            <a:srgbClr val="C8940A">
              <a:alpha val="80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6060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" y="2606040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Kizuizi Kikubwa cha Ushindani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295351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Miaka ya ujenzi wa miundombinu. Washindani wapya hawawezi kuiga haraka.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2514600"/>
            <a:ext cx="4160520" cy="1078992"/>
          </a:xfrm>
          <a:prstGeom prst="rect">
            <a:avLst/>
          </a:prstGeom>
          <a:solidFill>
            <a:srgbClr val="051530"/>
          </a:solidFill>
          <a:ln w="6350">
            <a:solidFill>
              <a:srgbClr val="0A7EA4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514600"/>
            <a:ext cx="45720" cy="1078992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606040"/>
            <a:ext cx="438912" cy="274320"/>
          </a:xfrm>
          <a:prstGeom prst="rect">
            <a:avLst/>
          </a:prstGeom>
          <a:solidFill>
            <a:srgbClr val="0A7EA4">
              <a:alpha val="80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6060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21808" y="2606040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Vyanzo Vingi vya Mapato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95351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+ Clearing + Warehousing + Platform + Fedha — 6 vyanzo vya mapato kwenye mzigo mmoja.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703320"/>
            <a:ext cx="4160520" cy="1078992"/>
          </a:xfrm>
          <a:prstGeom prst="rect">
            <a:avLst/>
          </a:prstGeom>
          <a:solidFill>
            <a:srgbClr val="051530"/>
          </a:solidFill>
          <a:ln w="6350">
            <a:solidFill>
              <a:srgbClr val="C8940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703320"/>
            <a:ext cx="45720" cy="1078992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794760"/>
            <a:ext cx="438912" cy="274320"/>
          </a:xfrm>
          <a:prstGeom prst="rect">
            <a:avLst/>
          </a:prstGeom>
          <a:solidFill>
            <a:srgbClr val="C8940A">
              <a:alpha val="80000"/>
            </a:srgbClr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79476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32688" y="3794760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Msingi wa Kimwili Tayari Upo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11480" y="414223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Cargo na Sami Agency zinafanya kazi — si wazo la nadharia. Mapato ya kweli, sio tu ndoto.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3703320"/>
            <a:ext cx="4160520" cy="1078992"/>
          </a:xfrm>
          <a:prstGeom prst="rect">
            <a:avLst/>
          </a:prstGeom>
          <a:solidFill>
            <a:srgbClr val="051530"/>
          </a:solidFill>
          <a:ln w="6350">
            <a:solidFill>
              <a:srgbClr val="0A7EA4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703320"/>
            <a:ext cx="45720" cy="1078992"/>
          </a:xfrm>
          <a:prstGeom prst="rect">
            <a:avLst/>
          </a:prstGeom>
          <a:solidFill>
            <a:srgbClr val="C8940A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3794760"/>
            <a:ext cx="438912" cy="274320"/>
          </a:xfrm>
          <a:prstGeom prst="rect">
            <a:avLst/>
          </a:prstGeom>
          <a:solidFill>
            <a:srgbClr val="0A7EA4">
              <a:alpha val="80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79476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21808" y="3794760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Upanuzi wa Fedha za Biashara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00600" y="414223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Wakati wa ukuaji, SAMI SIX inaweza kuwa benki ya SME — mikopo midogo kwa waagizaji. Mapato mapya.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F4D"/>
          </a:solidFill>
          <a:ln w="12700">
            <a:solidFill>
              <a:srgbClr val="001F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51530"/>
          </a:solidFill>
          <a:ln w="12700">
            <a:solidFill>
              <a:srgbClr val="C894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19050">
            <a:solidFill>
              <a:srgbClr val="C894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MFUMO MMOJA.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MOJA. MTANDAO MMOJA WA KUAMINI.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SIX APP — Digital Trade Operating System for African SMEs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2395728"/>
            <a:ext cx="2743200" cy="0"/>
          </a:xfrm>
          <a:prstGeom prst="line">
            <a:avLst/>
          </a:prstGeom>
          <a:noFill/>
          <a:ln w="10160">
            <a:solidFill>
              <a:srgbClr val="C894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INAYOUNDWA NA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3364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Cargo + Sami Agency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3154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MAKAO MAKUU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606040" y="3364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es Salaam, Tanzania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3154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663440" y="3364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Trade Platform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20840" y="3154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720840" y="3364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 – $3M Seed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767328"/>
            <a:ext cx="8046720" cy="0"/>
          </a:xfrm>
          <a:prstGeom prst="line">
            <a:avLst/>
          </a:prstGeom>
          <a:noFill/>
          <a:ln w="6350">
            <a:solidFill>
              <a:srgbClr val="002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58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 mazungumzo ya uwekezaji au ushirikiano: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Cargo  ·  Sami Agency  ·  Dar es Salaam, Tanzania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Investor Proposal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SAMI SIX APP - Investor Pitch Deck 2025</dc:title>
  <dc:subject>PptxGenJS Presentation</dc:subject>
  <dc:creator>PptxGenJS</dc:creator>
  <cp:lastModifiedBy>PptxGenJS</cp:lastModifiedBy>
  <cp:revision>1</cp:revision>
  <dcterms:created xsi:type="dcterms:W3CDTF">2026-06-06T04:35:10Z</dcterms:created>
  <dcterms:modified xsi:type="dcterms:W3CDTF">2026-06-06T04:35:10Z</dcterms:modified>
</cp:coreProperties>
</file>